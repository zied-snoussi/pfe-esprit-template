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0000" y="2300000"/>
            <a:ext cx="120000" cy="17000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0000" y="2150000"/>
            <a:ext cx="11072000" cy="10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Segoe UI"/>
              </a:rPr>
              <a:t>MediBook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0000" y="3150000"/>
            <a:ext cx="10512000" cy="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Plateforme SaaS de prise de rendez-vous et de suivi des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0000" y="5758000"/>
            <a:ext cx="11072000" cy="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egoe UI"/>
              </a:rPr>
              <a:t>Prénom NOM · Encadrants : M. Prénom NOM (Nova Solutions), Mme Prénom NOM (ESPRIT)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0000" y="6158000"/>
            <a:ext cx="11072000" cy="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PFE ESPRIT 2026-2027 · Nova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0000" y="470000"/>
            <a:ext cx="90000" cy="560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0000" y="380000"/>
            <a:ext cx="11072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1E2E"/>
                </a:solidFill>
                <a:latin typeface="Segoe UI"/>
              </a:rP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408000"/>
            <a:ext cx="80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PFE ESPRIT 2026-2027 · Nova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2000" y="6408000"/>
            <a:ext cx="8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0000" y="1700000"/>
            <a:ext cx="1000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600" b="1">
                <a:solidFill>
                  <a:srgbClr val="1F6FEB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60000" y="1850000"/>
            <a:ext cx="4300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0">
                <a:solidFill>
                  <a:srgbClr val="1E1E2E"/>
                </a:solidFill>
                <a:latin typeface="Segoe UI"/>
              </a:rPr>
              <a:t>Contexte et problématique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2850000"/>
            <a:ext cx="1000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600" b="1">
                <a:solidFill>
                  <a:srgbClr val="1F6FEB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0000" y="3000000"/>
            <a:ext cx="4300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0">
                <a:solidFill>
                  <a:srgbClr val="1E1E2E"/>
                </a:solidFill>
                <a:latin typeface="Segoe UI"/>
              </a:rPr>
              <a:t>Solution proposée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000" y="4000000"/>
            <a:ext cx="1000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600" b="1">
                <a:solidFill>
                  <a:srgbClr val="1F6FEB"/>
                </a:solidFill>
                <a:latin typeface="Segoe U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60000" y="4150000"/>
            <a:ext cx="4300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0">
                <a:solidFill>
                  <a:srgbClr val="1E1E2E"/>
                </a:solidFill>
                <a:latin typeface="Segoe UI"/>
              </a:rPr>
              <a:t>Analyse et conception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0000" y="1700000"/>
            <a:ext cx="1000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600" b="1">
                <a:solidFill>
                  <a:srgbClr val="1F6FEB"/>
                </a:solidFill>
                <a:latin typeface="Segoe UI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0000" y="1850000"/>
            <a:ext cx="4300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0">
                <a:solidFill>
                  <a:srgbClr val="1E1E2E"/>
                </a:solidFill>
                <a:latin typeface="Segoe UI"/>
              </a:rPr>
              <a:t>Réalisation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0000" y="2850000"/>
            <a:ext cx="1000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600" b="1">
                <a:solidFill>
                  <a:srgbClr val="1F6FEB"/>
                </a:solidFill>
                <a:latin typeface="Segoe UI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0000" y="3000000"/>
            <a:ext cx="4300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0">
                <a:solidFill>
                  <a:srgbClr val="1E1E2E"/>
                </a:solidFill>
                <a:latin typeface="Segoe UI"/>
              </a:rPr>
              <a:t>Tests et déploiement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0000" y="4000000"/>
            <a:ext cx="1000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600" b="1">
                <a:solidFill>
                  <a:srgbClr val="1F6FEB"/>
                </a:solidFill>
                <a:latin typeface="Segoe UI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0000" y="4150000"/>
            <a:ext cx="4300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0">
                <a:solidFill>
                  <a:srgbClr val="1E1E2E"/>
                </a:solidFill>
                <a:latin typeface="Segoe UI"/>
              </a:rPr>
              <a:t>Conclusion et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0000" y="1700000"/>
            <a:ext cx="3000000" cy="1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600" b="1">
                <a:solidFill>
                  <a:srgbClr val="1F6FEB"/>
                </a:solidFill>
                <a:latin typeface="Segoe U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3400000"/>
            <a:ext cx="11072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000" b="1">
                <a:solidFill>
                  <a:srgbClr val="1E1E2E"/>
                </a:solidFill>
                <a:latin typeface="Segoe UI"/>
              </a:rPr>
              <a:t>Contexte et problématique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4250000"/>
            <a:ext cx="11072000" cy="6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0">
                <a:solidFill>
                  <a:srgbClr val="6B7280"/>
                </a:solidFill>
                <a:latin typeface="Segoe UI"/>
              </a:rPr>
              <a:t>Nova Solutions et ses cliniques partenaires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2000" y="6408000"/>
            <a:ext cx="8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0000" y="470000"/>
            <a:ext cx="90000" cy="560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0000" y="380000"/>
            <a:ext cx="11072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1E2E"/>
                </a:solidFill>
                <a:latin typeface="Segoe UI"/>
              </a:rPr>
              <a:t>L'existant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880000"/>
            <a:ext cx="11072000" cy="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Segoe UI"/>
              </a:rPr>
              <a:t>Des rendez-vous gérés au téléphone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6408000"/>
            <a:ext cx="80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PFE ESPRIT 2026-2027 · Nova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2000" y="6408000"/>
            <a:ext cx="8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760000" y="1800000"/>
            <a:ext cx="160000" cy="160000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0000" y="1650000"/>
            <a:ext cx="10472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0">
                <a:solidFill>
                  <a:srgbClr val="1E1E2E"/>
                </a:solidFill>
                <a:latin typeface="Segoe UI"/>
              </a:rPr>
              <a:t>Réservation uniquement aux heures d'ouverture du secrétariat</a:t>
            </a:r>
          </a:p>
        </p:txBody>
      </p:sp>
      <p:sp>
        <p:nvSpPr>
          <p:cNvPr id="9" name="Oval 8"/>
          <p:cNvSpPr/>
          <p:nvPr/>
        </p:nvSpPr>
        <p:spPr>
          <a:xfrm>
            <a:off x="760000" y="2700000"/>
            <a:ext cx="160000" cy="160000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000" y="2550000"/>
            <a:ext cx="10472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0">
                <a:solidFill>
                  <a:srgbClr val="1E1E2E"/>
                </a:solidFill>
                <a:latin typeface="Segoe UI"/>
              </a:rPr>
              <a:t>Une grande partie de la journée passée au téléphone</a:t>
            </a:r>
          </a:p>
        </p:txBody>
      </p:sp>
      <p:sp>
        <p:nvSpPr>
          <p:cNvPr id="11" name="Oval 10"/>
          <p:cNvSpPr/>
          <p:nvPr/>
        </p:nvSpPr>
        <p:spPr>
          <a:xfrm>
            <a:off x="760000" y="3600000"/>
            <a:ext cx="160000" cy="160000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0000" y="3450000"/>
            <a:ext cx="10472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0">
                <a:solidFill>
                  <a:srgbClr val="1E1E2E"/>
                </a:solidFill>
                <a:latin typeface="Segoe UI"/>
              </a:rPr>
              <a:t>Rendez-vous oubliés, faute de rappel</a:t>
            </a:r>
          </a:p>
        </p:txBody>
      </p:sp>
      <p:sp>
        <p:nvSpPr>
          <p:cNvPr id="13" name="Oval 12"/>
          <p:cNvSpPr/>
          <p:nvPr/>
        </p:nvSpPr>
        <p:spPr>
          <a:xfrm>
            <a:off x="760000" y="4500000"/>
            <a:ext cx="160000" cy="160000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0000" y="4350000"/>
            <a:ext cx="10472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0">
                <a:solidFill>
                  <a:srgbClr val="1E1E2E"/>
                </a:solidFill>
                <a:latin typeface="Segoe UI"/>
              </a:rPr>
              <a:t>Aucun indicateur d'occupation pour la direction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0000" y="470000"/>
            <a:ext cx="90000" cy="560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0000" y="380000"/>
            <a:ext cx="11072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1E2E"/>
                </a:solidFill>
                <a:latin typeface="Segoe UI"/>
              </a:rPr>
              <a:t>Le problème en chiffres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880000"/>
            <a:ext cx="11072000" cy="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Segoe UI"/>
              </a:rPr>
              <a:t>Valeurs d'exemple, à remplacer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6408000"/>
            <a:ext cx="80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PFE ESPRIT 2026-2027 · Nova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2000" y="6408000"/>
            <a:ext cx="8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400000"/>
            <a:ext cx="3690666" cy="11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6000" b="1">
                <a:solidFill>
                  <a:srgbClr val="1F6FEB"/>
                </a:solidFill>
                <a:latin typeface="Segoe UI"/>
              </a:rPr>
              <a:t>12 %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600000"/>
            <a:ext cx="3290666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800" b="0">
                <a:solidFill>
                  <a:srgbClr val="1E1E2E"/>
                </a:solidFill>
                <a:latin typeface="Segoe UI"/>
              </a:rPr>
              <a:t>de rendez-vous non honorés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0666" y="2400000"/>
            <a:ext cx="3690666" cy="11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6000" b="1">
                <a:solidFill>
                  <a:srgbClr val="E8590C"/>
                </a:solidFill>
                <a:latin typeface="Segoe UI"/>
              </a:rPr>
              <a:t>3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666" y="3600000"/>
            <a:ext cx="3290666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800" b="0">
                <a:solidFill>
                  <a:srgbClr val="1E1E2E"/>
                </a:solidFill>
                <a:latin typeface="Segoe UI"/>
              </a:rPr>
              <a:t>d'appels par jour et par secrétaire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41332" y="2400000"/>
            <a:ext cx="3690666" cy="11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6000" b="1">
                <a:solidFill>
                  <a:srgbClr val="1F6FEB"/>
                </a:solidFill>
                <a:latin typeface="Segoe U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1332" y="3600000"/>
            <a:ext cx="3290666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800" b="0">
                <a:solidFill>
                  <a:srgbClr val="1E1E2E"/>
                </a:solidFill>
                <a:latin typeface="Segoe UI"/>
              </a:rPr>
              <a:t>indicateur de suivi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0000" y="1700000"/>
            <a:ext cx="3000000" cy="1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600" b="1">
                <a:solidFill>
                  <a:srgbClr val="1F6FEB"/>
                </a:solidFill>
                <a:latin typeface="Segoe U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3400000"/>
            <a:ext cx="11072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000" b="1">
                <a:solidFill>
                  <a:srgbClr val="1E1E2E"/>
                </a:solidFill>
                <a:latin typeface="Segoe UI"/>
              </a:rPr>
              <a:t>Solution proposée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4250000"/>
            <a:ext cx="11072000" cy="6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0">
                <a:solidFill>
                  <a:srgbClr val="6B7280"/>
                </a:solidFill>
                <a:latin typeface="Segoe UI"/>
              </a:rPr>
              <a:t>Une plateforme, trois espaces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2000" y="6408000"/>
            <a:ext cx="8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0000" y="470000"/>
            <a:ext cx="90000" cy="560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0000" y="380000"/>
            <a:ext cx="11072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1E2E"/>
                </a:solidFill>
                <a:latin typeface="Segoe UI"/>
              </a:rPr>
              <a:t>Brainstorming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880000"/>
            <a:ext cx="11072000" cy="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Segoe UI"/>
              </a:rPr>
              <a:t>Dix thèmes recensés avec l'équipe au Sprint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6408000"/>
            <a:ext cx="80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PFE ESPRIT 2026-2027 · Nova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2000" y="6408000"/>
            <a:ext cx="8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7</a:t>
            </a:r>
          </a:p>
        </p:txBody>
      </p:sp>
      <p:pic>
        <p:nvPicPr>
          <p:cNvPr id="7" name="Picture 6" descr="brainstor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977" y="1500000"/>
            <a:ext cx="6092046" cy="43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0000" y="5908000"/>
            <a:ext cx="11072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Segoe UI"/>
              </a:rPr>
              <a:t>Tableau de brainstorming (Excalidraw)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0000" y="470000"/>
            <a:ext cx="90000" cy="560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0000" y="380000"/>
            <a:ext cx="11072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1E2E"/>
                </a:solidFill>
                <a:latin typeface="Segoe UI"/>
              </a:rPr>
              <a:t>MediBook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880000"/>
            <a:ext cx="11072000" cy="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Segoe UI"/>
              </a:rPr>
              <a:t>Trois espaces sur une même plateforme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6408000"/>
            <a:ext cx="80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PFE ESPRIT 2026-2027 · Nova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2000" y="6408000"/>
            <a:ext cx="8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1500000"/>
            <a:ext cx="3524000" cy="4708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0000" y="1500000"/>
            <a:ext cx="3524000" cy="70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0000" y="1800000"/>
            <a:ext cx="3024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200" b="1">
                <a:solidFill>
                  <a:srgbClr val="1F6FEB"/>
                </a:solidFill>
                <a:latin typeface="Segoe UI"/>
              </a:rPr>
              <a:t>Espace patient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" y="2400000"/>
            <a:ext cx="3024000" cy="3708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E1E2E"/>
                </a:solidFill>
                <a:latin typeface="Segoe UI"/>
              </a:rPr>
              <a:t>Rechercher un praticien, réserver, déplacer ou annuler un rendez-vous.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000" y="1500000"/>
            <a:ext cx="3524000" cy="4708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000" y="1500000"/>
            <a:ext cx="3524000" cy="70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4000" y="1800000"/>
            <a:ext cx="3024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200" b="1">
                <a:solidFill>
                  <a:srgbClr val="1F6FEB"/>
                </a:solidFill>
                <a:latin typeface="Segoe UI"/>
              </a:rPr>
              <a:t>Espace clinique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000" y="2400000"/>
            <a:ext cx="3024000" cy="3708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E1E2E"/>
                </a:solidFill>
                <a:latin typeface="Segoe UI"/>
              </a:rPr>
              <a:t>Agendas des praticiens, rendez-vous du jour, rappels automatiques.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8000" y="1500000"/>
            <a:ext cx="3524000" cy="4708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8000" y="1500000"/>
            <a:ext cx="3524000" cy="70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8000" y="1800000"/>
            <a:ext cx="3024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200" b="1">
                <a:solidFill>
                  <a:srgbClr val="1F6FEB"/>
                </a:solidFill>
                <a:latin typeface="Segoe UI"/>
              </a:rPr>
              <a:t>Console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8000" y="2400000"/>
            <a:ext cx="3024000" cy="3708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E1E2E"/>
                </a:solidFill>
                <a:latin typeface="Segoe UI"/>
              </a:rPr>
              <a:t>Création des cliniques, abonnements et supervision de la plateforme.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0000" y="1700000"/>
            <a:ext cx="3000000" cy="1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600" b="1">
                <a:solidFill>
                  <a:srgbClr val="1F6FEB"/>
                </a:solidFill>
                <a:latin typeface="Segoe U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3400000"/>
            <a:ext cx="11072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000" b="1">
                <a:solidFill>
                  <a:srgbClr val="1E1E2E"/>
                </a:solidFill>
                <a:latin typeface="Segoe UI"/>
              </a:rPr>
              <a:t>Analyse et conception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4250000"/>
            <a:ext cx="11072000" cy="6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0">
                <a:solidFill>
                  <a:srgbClr val="6B7280"/>
                </a:solidFill>
                <a:latin typeface="Segoe UI"/>
              </a:rPr>
              <a:t>Besoins, architecture, UML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2000" y="6408000"/>
            <a:ext cx="8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0000" y="470000"/>
            <a:ext cx="90000" cy="560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0000" y="380000"/>
            <a:ext cx="11072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1E2E"/>
                </a:solidFill>
                <a:latin typeface="Segoe UI"/>
              </a:rPr>
              <a:t>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880000"/>
            <a:ext cx="11072000" cy="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Segoe UI"/>
              </a:rPr>
              <a:t>Réserver en quatre écrans, validés avant le développement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6408000"/>
            <a:ext cx="80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PFE ESPRIT 2026-2027 · Nova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2000" y="6408000"/>
            <a:ext cx="8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10</a:t>
            </a:r>
          </a:p>
        </p:txBody>
      </p:sp>
      <p:pic>
        <p:nvPicPr>
          <p:cNvPr id="7" name="Picture 6" descr="proto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734" y="1500000"/>
            <a:ext cx="3530531" cy="43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0000" y="5908000"/>
            <a:ext cx="11072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Segoe UI"/>
              </a:rPr>
              <a:t>Maquettes basse fidélité (Excalidraw)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0000" y="470000"/>
            <a:ext cx="90000" cy="560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0000" y="380000"/>
            <a:ext cx="11072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1E2E"/>
                </a:solidFill>
                <a:latin typeface="Segoe UI"/>
              </a:rPr>
              <a:t>Cas d'utilisation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880000"/>
            <a:ext cx="11072000" cy="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Segoe UI"/>
              </a:rPr>
              <a:t>Cinq acteurs, quatre familles de fonctions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6408000"/>
            <a:ext cx="80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PFE ESPRIT 2026-2027 · Nova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2000" y="6408000"/>
            <a:ext cx="8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11</a:t>
            </a:r>
          </a:p>
        </p:txBody>
      </p:sp>
      <p:pic>
        <p:nvPicPr>
          <p:cNvPr id="7" name="Picture 6" descr="01-cas-utilisation-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742" y="1500000"/>
            <a:ext cx="4566516" cy="43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0000" y="5908000"/>
            <a:ext cx="11072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Segoe UI"/>
              </a:rPr>
              <a:t>Diagramme de cas d'utilisation global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0000" y="470000"/>
            <a:ext cx="90000" cy="560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0000" y="380000"/>
            <a:ext cx="11072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1E2E"/>
                </a:solidFill>
                <a:latin typeface="Segoe UI"/>
              </a:rPr>
              <a:t>Architecture globale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880000"/>
            <a:ext cx="11072000" cy="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Segoe UI"/>
              </a:rPr>
              <a:t>React, Spring Boot, PostgreSQL, RabbitMQ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6408000"/>
            <a:ext cx="80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PFE ESPRIT 2026-2027 · Nova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2000" y="6408000"/>
            <a:ext cx="8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12</a:t>
            </a:r>
          </a:p>
        </p:txBody>
      </p:sp>
      <p:pic>
        <p:nvPicPr>
          <p:cNvPr id="7" name="Picture 6" descr="architecture-glob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235" y="1500000"/>
            <a:ext cx="6921529" cy="43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0000" y="5908000"/>
            <a:ext cx="11072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Segoe UI"/>
              </a:rPr>
              <a:t>Architecture en couches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0000" y="470000"/>
            <a:ext cx="90000" cy="560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0000" y="380000"/>
            <a:ext cx="11072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1E2E"/>
                </a:solidFill>
                <a:latin typeface="Segoe UI"/>
              </a:rPr>
              <a:t>Prise de rendez-vous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880000"/>
            <a:ext cx="11072000" cy="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Segoe UI"/>
              </a:rPr>
              <a:t>Le verrou optimiste évite la double réservation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6408000"/>
            <a:ext cx="80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PFE ESPRIT 2026-2027 · Nova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2000" y="6408000"/>
            <a:ext cx="8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13</a:t>
            </a:r>
          </a:p>
        </p:txBody>
      </p:sp>
      <p:pic>
        <p:nvPicPr>
          <p:cNvPr id="7" name="Picture 6" descr="03-sequence-prise-rd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992" y="1500000"/>
            <a:ext cx="7740016" cy="43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0000" y="5908000"/>
            <a:ext cx="11072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Segoe UI"/>
              </a:rPr>
              <a:t>Diagramme de séquence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0000" y="1700000"/>
            <a:ext cx="3000000" cy="1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600" b="1">
                <a:solidFill>
                  <a:srgbClr val="1F6FEB"/>
                </a:solidFill>
                <a:latin typeface="Segoe U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3400000"/>
            <a:ext cx="11072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000" b="1">
                <a:solidFill>
                  <a:srgbClr val="1E1E2E"/>
                </a:solidFill>
                <a:latin typeface="Segoe UI"/>
              </a:rPr>
              <a:t>Réalisation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4250000"/>
            <a:ext cx="11072000" cy="6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0">
                <a:solidFill>
                  <a:srgbClr val="6B7280"/>
                </a:solidFill>
                <a:latin typeface="Segoe UI"/>
              </a:rPr>
              <a:t>Trois releases en Scrum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2000" y="6408000"/>
            <a:ext cx="8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0000" y="470000"/>
            <a:ext cx="90000" cy="560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0000" y="380000"/>
            <a:ext cx="11072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1E2E"/>
                </a:solidFill>
                <a:latin typeface="Segoe UI"/>
              </a:rPr>
              <a:t>Release 2 : réservation et rappels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880000"/>
            <a:ext cx="11072000" cy="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Segoe UI"/>
              </a:rPr>
              <a:t>Sprints 5 à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6408000"/>
            <a:ext cx="80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PFE ESPRIT 2026-2027 · Nova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2000" y="6408000"/>
            <a:ext cx="8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15</a:t>
            </a:r>
          </a:p>
        </p:txBody>
      </p:sp>
      <p:sp>
        <p:nvSpPr>
          <p:cNvPr id="7" name="Oval 6"/>
          <p:cNvSpPr/>
          <p:nvPr/>
        </p:nvSpPr>
        <p:spPr>
          <a:xfrm>
            <a:off x="760000" y="1800000"/>
            <a:ext cx="160000" cy="160000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0000" y="1650000"/>
            <a:ext cx="4900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0">
                <a:solidFill>
                  <a:srgbClr val="1E1E2E"/>
                </a:solidFill>
                <a:latin typeface="Segoe UI"/>
              </a:rPr>
              <a:t>Recherche par spécialité et par ville</a:t>
            </a:r>
          </a:p>
        </p:txBody>
      </p:sp>
      <p:sp>
        <p:nvSpPr>
          <p:cNvPr id="9" name="Oval 8"/>
          <p:cNvSpPr/>
          <p:nvPr/>
        </p:nvSpPr>
        <p:spPr>
          <a:xfrm>
            <a:off x="760000" y="2700000"/>
            <a:ext cx="160000" cy="160000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000" y="2550000"/>
            <a:ext cx="4900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0">
                <a:solidFill>
                  <a:srgbClr val="1E1E2E"/>
                </a:solidFill>
                <a:latin typeface="Segoe UI"/>
              </a:rPr>
              <a:t>Réservation en trois clics</a:t>
            </a:r>
          </a:p>
        </p:txBody>
      </p:sp>
      <p:sp>
        <p:nvSpPr>
          <p:cNvPr id="11" name="Oval 10"/>
          <p:cNvSpPr/>
          <p:nvPr/>
        </p:nvSpPr>
        <p:spPr>
          <a:xfrm>
            <a:off x="760000" y="3600000"/>
            <a:ext cx="160000" cy="160000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0000" y="3450000"/>
            <a:ext cx="4900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0">
                <a:solidFill>
                  <a:srgbClr val="1E1E2E"/>
                </a:solidFill>
                <a:latin typeface="Segoe UI"/>
              </a:rPr>
              <a:t>Rappels SMS et e-mail 24 h avant</a:t>
            </a:r>
          </a:p>
        </p:txBody>
      </p:sp>
      <p:sp>
        <p:nvSpPr>
          <p:cNvPr id="13" name="Oval 12"/>
          <p:cNvSpPr/>
          <p:nvPr/>
        </p:nvSpPr>
        <p:spPr>
          <a:xfrm>
            <a:off x="760000" y="4500000"/>
            <a:ext cx="160000" cy="160000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0000" y="4350000"/>
            <a:ext cx="4900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0">
                <a:solidFill>
                  <a:srgbClr val="1E1E2E"/>
                </a:solidFill>
                <a:latin typeface="Segoe UI"/>
              </a:rPr>
              <a:t>Déplacement par le secrétariat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60000" y="1500000"/>
            <a:ext cx="5072000" cy="4708000"/>
          </a:xfrm>
          <a:prstGeom prst="rect">
            <a:avLst/>
          </a:prstGeom>
          <a:solidFill>
            <a:srgbClr val="F3F4F6"/>
          </a:solidFill>
          <a:ln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0000" y="1500000"/>
            <a:ext cx="5072000" cy="47080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400" b="0">
                <a:solidFill>
                  <a:srgbClr val="E8590C"/>
                </a:solidFill>
                <a:latin typeface="Segoe UI"/>
              </a:rPr>
              <a:t>Image à produire : rapport/figures/captures/reservation-patient.png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0000" y="1700000"/>
            <a:ext cx="3000000" cy="1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600" b="1">
                <a:solidFill>
                  <a:srgbClr val="1F6FEB"/>
                </a:solidFill>
                <a:latin typeface="Segoe U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3400000"/>
            <a:ext cx="11072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000" b="1">
                <a:solidFill>
                  <a:srgbClr val="1E1E2E"/>
                </a:solidFill>
                <a:latin typeface="Segoe UI"/>
              </a:rPr>
              <a:t>Tests et déploiement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4250000"/>
            <a:ext cx="11072000" cy="6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0">
                <a:solidFill>
                  <a:srgbClr val="6B7280"/>
                </a:solidFill>
                <a:latin typeface="Segoe UI"/>
              </a:rPr>
              <a:t>Qualité mesurée à chaque 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2000" y="6408000"/>
            <a:ext cx="8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0000" y="470000"/>
            <a:ext cx="90000" cy="560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0000" y="380000"/>
            <a:ext cx="11072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1E2E"/>
                </a:solidFill>
                <a:latin typeface="Segoe UI"/>
              </a:rPr>
              <a:t>Résultats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880000"/>
            <a:ext cx="11072000" cy="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Segoe UI"/>
              </a:rPr>
              <a:t>Valeurs d'exemple, à remplacer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6408000"/>
            <a:ext cx="80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PFE ESPRIT 2026-2027 · Nova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2000" y="6408000"/>
            <a:ext cx="8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400000"/>
            <a:ext cx="2768000" cy="11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6000" b="1">
                <a:solidFill>
                  <a:srgbClr val="1F6FEB"/>
                </a:solidFill>
                <a:latin typeface="Segoe UI"/>
              </a:rPr>
              <a:t>84 %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600000"/>
            <a:ext cx="2368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800" b="0">
                <a:solidFill>
                  <a:srgbClr val="1E1E2E"/>
                </a:solidFill>
                <a:latin typeface="Segoe UI"/>
              </a:rPr>
              <a:t>de couverture back-end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28000" y="2400000"/>
            <a:ext cx="2768000" cy="11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6000" b="1">
                <a:solidFill>
                  <a:srgbClr val="E8590C"/>
                </a:solidFill>
                <a:latin typeface="Segoe UI"/>
              </a:rPr>
              <a:t>36/36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8000" y="3600000"/>
            <a:ext cx="2368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800" b="0">
                <a:solidFill>
                  <a:srgbClr val="1E1E2E"/>
                </a:solidFill>
                <a:latin typeface="Segoe UI"/>
              </a:rPr>
              <a:t>tests E2E réussis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0" y="2400000"/>
            <a:ext cx="2768000" cy="11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6000" b="1">
                <a:solidFill>
                  <a:srgbClr val="1F6FEB"/>
                </a:solidFill>
                <a:latin typeface="Segoe UI"/>
              </a:rPr>
              <a:t>310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6000" y="3600000"/>
            <a:ext cx="2368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800" b="0">
                <a:solidFill>
                  <a:srgbClr val="1E1E2E"/>
                </a:solidFill>
                <a:latin typeface="Segoe UI"/>
              </a:rPr>
              <a:t>temps de réponse p95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4000" y="2400000"/>
            <a:ext cx="2768000" cy="11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6000" b="1">
                <a:solidFill>
                  <a:srgbClr val="E8590C"/>
                </a:solidFill>
                <a:latin typeface="Segoe U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64000" y="3600000"/>
            <a:ext cx="2368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800" b="0">
                <a:solidFill>
                  <a:srgbClr val="1E1E2E"/>
                </a:solidFill>
                <a:latin typeface="Segoe UI"/>
              </a:rPr>
              <a:t>vulnérabilité critique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0000" y="470000"/>
            <a:ext cx="90000" cy="560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0000" y="380000"/>
            <a:ext cx="11072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1E2E"/>
                </a:solidFill>
                <a:latin typeface="Segoe UI"/>
              </a:rPr>
              <a:t>Chaîne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880000"/>
            <a:ext cx="11072000" cy="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Segoe UI"/>
              </a:rPr>
              <a:t>GitHub Actions jusqu'à Kubernetes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6408000"/>
            <a:ext cx="80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PFE ESPRIT 2026-2027 · Nova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2000" y="6408000"/>
            <a:ext cx="8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18</a:t>
            </a:r>
          </a:p>
        </p:txBody>
      </p:sp>
      <p:pic>
        <p:nvPicPr>
          <p:cNvPr id="7" name="Picture 6" descr="pipeline-ci-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2295000"/>
            <a:ext cx="11072000" cy="276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0000" y="5908000"/>
            <a:ext cx="11072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Segoe UI"/>
              </a:rPr>
              <a:t>Pipeline d'intégration et de livraison continues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0000" y="470000"/>
            <a:ext cx="90000" cy="560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0000" y="380000"/>
            <a:ext cx="11072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1E2E"/>
                </a:solidFill>
                <a:latin typeface="Segoe UI"/>
              </a:rPr>
              <a:t>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880000"/>
            <a:ext cx="11072000" cy="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Segoe UI"/>
              </a:rPr>
              <a:t>26 semaines, jalons ESPRIT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6408000"/>
            <a:ext cx="80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PFE ESPRIT 2026-2027 · Nova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2000" y="6408000"/>
            <a:ext cx="8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000" y="3000000"/>
            <a:ext cx="11072000" cy="50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7200" y="2845000"/>
            <a:ext cx="360000" cy="3600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0000" y="2000000"/>
            <a:ext cx="22144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800" b="1">
                <a:solidFill>
                  <a:srgbClr val="1F6FEB"/>
                </a:solidFill>
                <a:latin typeface="Segoe UI"/>
              </a:rPr>
              <a:t>S1-2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00" y="3450000"/>
            <a:ext cx="20144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800" b="1">
                <a:solidFill>
                  <a:srgbClr val="1E1E2E"/>
                </a:solidFill>
                <a:latin typeface="Segoe UI"/>
              </a:rPr>
              <a:t>Sprint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00" y="3950000"/>
            <a:ext cx="2014400" cy="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Segoe UI"/>
              </a:rPr>
              <a:t>Étude et cahier des charges</a:t>
            </a:r>
          </a:p>
        </p:txBody>
      </p:sp>
      <p:sp>
        <p:nvSpPr>
          <p:cNvPr id="12" name="Oval 11"/>
          <p:cNvSpPr/>
          <p:nvPr/>
        </p:nvSpPr>
        <p:spPr>
          <a:xfrm>
            <a:off x="3701600" y="2845000"/>
            <a:ext cx="360000" cy="3600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4400" y="2000000"/>
            <a:ext cx="22144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800" b="1">
                <a:solidFill>
                  <a:srgbClr val="1F6FEB"/>
                </a:solidFill>
                <a:latin typeface="Segoe UI"/>
              </a:rPr>
              <a:t>S3-10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4400" y="3450000"/>
            <a:ext cx="20144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800" b="1">
                <a:solidFill>
                  <a:srgbClr val="1E1E2E"/>
                </a:solidFill>
                <a:latin typeface="Segoe UI"/>
              </a:rPr>
              <a:t>Release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4400" y="3950000"/>
            <a:ext cx="2014400" cy="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Segoe UI"/>
              </a:rPr>
              <a:t>Socle et agendas</a:t>
            </a:r>
          </a:p>
        </p:txBody>
      </p:sp>
      <p:sp>
        <p:nvSpPr>
          <p:cNvPr id="16" name="Oval 15"/>
          <p:cNvSpPr/>
          <p:nvPr/>
        </p:nvSpPr>
        <p:spPr>
          <a:xfrm>
            <a:off x="5916000" y="2845000"/>
            <a:ext cx="360000" cy="3600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8800" y="2000000"/>
            <a:ext cx="22144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800" b="1">
                <a:solidFill>
                  <a:srgbClr val="1F6FEB"/>
                </a:solidFill>
                <a:latin typeface="Segoe UI"/>
              </a:rPr>
              <a:t>S11-18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8800" y="3450000"/>
            <a:ext cx="20144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800" b="1">
                <a:solidFill>
                  <a:srgbClr val="1E1E2E"/>
                </a:solidFill>
                <a:latin typeface="Segoe UI"/>
              </a:rPr>
              <a:t>Release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8800" y="3950000"/>
            <a:ext cx="2014400" cy="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Segoe UI"/>
              </a:rPr>
              <a:t>Réservation et rappels</a:t>
            </a:r>
          </a:p>
        </p:txBody>
      </p:sp>
      <p:sp>
        <p:nvSpPr>
          <p:cNvPr id="20" name="Oval 19"/>
          <p:cNvSpPr/>
          <p:nvPr/>
        </p:nvSpPr>
        <p:spPr>
          <a:xfrm>
            <a:off x="8130400" y="2845000"/>
            <a:ext cx="360000" cy="3600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3200" y="2000000"/>
            <a:ext cx="22144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800" b="1">
                <a:solidFill>
                  <a:srgbClr val="1F6FEB"/>
                </a:solidFill>
                <a:latin typeface="Segoe UI"/>
              </a:rPr>
              <a:t>S19-24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3200" y="3450000"/>
            <a:ext cx="20144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800" b="1">
                <a:solidFill>
                  <a:srgbClr val="1E1E2E"/>
                </a:solidFill>
                <a:latin typeface="Segoe UI"/>
              </a:rPr>
              <a:t>Release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3200" y="3950000"/>
            <a:ext cx="2014400" cy="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Segoe UI"/>
              </a:rPr>
              <a:t>Pilotage et production</a:t>
            </a:r>
          </a:p>
        </p:txBody>
      </p:sp>
      <p:sp>
        <p:nvSpPr>
          <p:cNvPr id="24" name="Oval 23"/>
          <p:cNvSpPr/>
          <p:nvPr/>
        </p:nvSpPr>
        <p:spPr>
          <a:xfrm>
            <a:off x="10344800" y="2845000"/>
            <a:ext cx="360000" cy="360000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7600" y="2000000"/>
            <a:ext cx="22144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800" b="1">
                <a:solidFill>
                  <a:srgbClr val="1F6FEB"/>
                </a:solidFill>
                <a:latin typeface="Segoe UI"/>
              </a:rPr>
              <a:t>S25-26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17600" y="3450000"/>
            <a:ext cx="20144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800" b="1">
                <a:solidFill>
                  <a:srgbClr val="1E1E2E"/>
                </a:solidFill>
                <a:latin typeface="Segoe UI"/>
              </a:rPr>
              <a:t>Clôture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17600" y="3950000"/>
            <a:ext cx="2014400" cy="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Segoe UI"/>
              </a:rPr>
              <a:t>Recette et soutenance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0000" y="470000"/>
            <a:ext cx="90000" cy="560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0000" y="380000"/>
            <a:ext cx="11072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1E2E"/>
                </a:solidFill>
                <a:latin typeface="Segoe UI"/>
              </a:rPr>
              <a:t>Conclusion et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408000"/>
            <a:ext cx="80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PFE ESPRIT 2026-2027 · Nova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2000" y="6408000"/>
            <a:ext cx="8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20</a:t>
            </a:r>
          </a:p>
        </p:txBody>
      </p:sp>
      <p:sp>
        <p:nvSpPr>
          <p:cNvPr id="6" name="Oval 5"/>
          <p:cNvSpPr/>
          <p:nvPr/>
        </p:nvSpPr>
        <p:spPr>
          <a:xfrm>
            <a:off x="760000" y="1800000"/>
            <a:ext cx="160000" cy="160000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000" y="1650000"/>
            <a:ext cx="10472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0">
                <a:solidFill>
                  <a:srgbClr val="1E1E2E"/>
                </a:solidFill>
                <a:latin typeface="Segoe UI"/>
              </a:rPr>
              <a:t>Réservation en ligne opérationnelle pour plusieurs cliniques</a:t>
            </a:r>
          </a:p>
        </p:txBody>
      </p:sp>
      <p:sp>
        <p:nvSpPr>
          <p:cNvPr id="8" name="Oval 7"/>
          <p:cNvSpPr/>
          <p:nvPr/>
        </p:nvSpPr>
        <p:spPr>
          <a:xfrm>
            <a:off x="760000" y="2700000"/>
            <a:ext cx="160000" cy="160000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000" y="2550000"/>
            <a:ext cx="10472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0">
                <a:solidFill>
                  <a:srgbClr val="1E1E2E"/>
                </a:solidFill>
                <a:latin typeface="Segoe UI"/>
              </a:rPr>
              <a:t>Rappels automatiques et tableau de bord</a:t>
            </a:r>
          </a:p>
        </p:txBody>
      </p:sp>
      <p:sp>
        <p:nvSpPr>
          <p:cNvPr id="10" name="Oval 9"/>
          <p:cNvSpPr/>
          <p:nvPr/>
        </p:nvSpPr>
        <p:spPr>
          <a:xfrm>
            <a:off x="760000" y="3600000"/>
            <a:ext cx="160000" cy="160000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0000" y="3450000"/>
            <a:ext cx="10472000" cy="8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0">
                <a:solidFill>
                  <a:srgbClr val="1E1E2E"/>
                </a:solidFill>
                <a:latin typeface="Segoe UI"/>
              </a:rPr>
              <a:t>Perspectives : téléconsultation, application mobile, lien avec le dossier patient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0000" y="2500000"/>
            <a:ext cx="11072000" cy="10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Segoe UI"/>
              </a:rPr>
              <a:t>Merci pour votre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3600000"/>
            <a:ext cx="11072000" cy="7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Segoe UI"/>
              </a:rP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MediBook</dc:title>
  <dc:subject/>
  <dc:creator>Prénom NOM</dc:creator>
  <cp:keywords/>
  <dc:description>generated using python-pptx</dc:description>
  <cp:lastModifiedBy>Prénom NOM</cp:lastModifiedBy>
  <cp:revision>1</cp:revision>
  <dcterms:created xsi:type="dcterms:W3CDTF">2013-01-27T09:14:16Z</dcterms:created>
  <dcterms:modified xsi:type="dcterms:W3CDTF">2013-01-27T09:15:58Z</dcterms:modified>
  <cp:category/>
</cp:coreProperties>
</file>